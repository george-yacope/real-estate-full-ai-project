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4646"/>
    <a:srgbClr val="030303"/>
    <a:srgbClr val="374151"/>
    <a:srgbClr val="111827"/>
    <a:srgbClr val="023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0" d="100"/>
          <a:sy n="50" d="100"/>
        </p:scale>
        <p:origin x="-65" y="7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6FAAA-8C4B-5042-C234-1D5EFA228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6115A-E7EC-A6FF-300F-1604E8066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6F85B-D2B5-EF23-F110-C6189479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E6233-90AF-1256-3F9E-BF9840EC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9DE1B-01CC-A7C0-F582-8BC341BF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48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F18B-93F4-4082-CA2E-7B239607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2E12F-9214-3791-68B1-101FDC021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ACED3-47C7-32DD-70F2-A95CE499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E301E-E63F-0390-6E89-1C2C52B9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F9E17-90CC-597A-15D8-107E277D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2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6B5F-DE6F-D469-5E47-CB91073E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36259-6829-50AE-2D37-DC9616A3F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730B3-33BD-E1ED-DCC4-38948E83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9CE90-D917-34B9-650F-C43352DB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3EBCB-A8FF-876F-1079-69728A2A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5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500C-E215-27BC-5EE9-7F8BAF59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873E6-985C-4B56-AC2D-29D46C09E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B26EE-03BC-257B-4F3C-82987730E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1EEDB-9D2F-FCA8-A4F9-5ECE4097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0B9A6-908B-FFF3-13DB-E78EF823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0F5BE-6ED1-FC9B-EC48-0350F42F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5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7280-BD9D-CDC3-29A0-2A169FAF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8FC98-2ECD-B9C7-4FC4-475B2D6B0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D266C-8127-6D13-328C-288012A8D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D50BE-9A15-A04F-5FF5-F9A75EEBD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8D6B2-4C8D-7828-0707-0FF507F21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A679CC-ADFD-508B-BA7C-D8D8DE38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6094F-8074-EBF6-454F-42F9F129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478E4-BD42-A8A9-6ED2-689D62EA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78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B5C5F-F135-9BB4-3A45-0DB5096C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0B93B-2441-ADAB-8945-2D63FDDD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AA50E-C65A-52CF-D995-1D7A4E7E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355EE-6CC4-6ACD-F78E-38ECB63D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1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15062-4040-A616-6B63-74066FBA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579D5-DC40-DAEF-E30F-683C81EA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24502-E417-177A-7672-2D2646C6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9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512A-0F5B-EEBA-9029-728472108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D331D-E30A-D4D6-2350-18F9DB074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0C091-D2A5-D53F-BAE4-8A6936A74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01A30-6D1C-CF94-9F6A-3BFAF99B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EDCD2-1B99-1129-C90C-27803A7B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1FCFD-0EA4-3E0D-3D52-138E84EF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19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8BDB-7318-DEB1-8D0D-E468C503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C780D6-61C5-2E26-0C7D-E764F9825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7FF87-2767-9016-95DD-BDFE04DC2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B3401-BD14-6E26-7D1A-3B234F75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15367-EF4B-4270-9115-9F71E9B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CD30F-E949-4986-64F7-6564C3B2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4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A63B-21BC-4038-CD4D-5346A43B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21194-8A2F-E44C-D763-59B02CAF7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291C0-D16C-62EB-784F-0A1AB53E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E8697-FA82-8B24-2C64-05C7B45E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2540B-20FE-E012-B770-83546706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174752-806F-8D7E-D869-51BC36D5D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EBD31-E860-3DF4-F71B-0C2108970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F4D96-949B-A47D-70E8-C09A9451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54CE6-DDB9-236B-08FC-FAABF623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F1DB3-FB8F-57EC-5EC6-112C8C23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48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D2BD2-3846-7990-B21D-238E95A0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9B2C5-CF46-21BC-0CEE-1F5F75182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10826-05CB-F259-E991-D860023F1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9251E-B429-4D3A-999B-886F64A1691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C925E-CF98-99C2-D2E7-AE92F9D31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DE66E-4E60-8E29-ABAB-BF39A14E6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FB3E8-69B8-4265-92C0-7637A9E4D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5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-estate-full-ai-project.streamlit.app/" TargetMode="External"/><Relationship Id="rId2" Type="http://schemas.openxmlformats.org/officeDocument/2006/relationships/hyperlink" Target="https://github.com/george-yacope/Real-Estate-Full-AI-Projec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5DDB63-F03C-197C-5EB0-B58920FBDB9E}"/>
              </a:ext>
            </a:extLst>
          </p:cNvPr>
          <p:cNvSpPr txBox="1"/>
          <p:nvPr/>
        </p:nvSpPr>
        <p:spPr>
          <a:xfrm>
            <a:off x="200585" y="2803865"/>
            <a:ext cx="7690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ans Semi Bold" panose="020B0604020202020204" charset="0"/>
              </a:rPr>
              <a:t>Real Estate Machine</a:t>
            </a: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F28856C6-F3AF-7146-1F42-AE2BCB5B0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-849270"/>
            <a:ext cx="5486400" cy="8229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C315F0-EB27-901C-C602-B31D9EEB4DE9}"/>
              </a:ext>
            </a:extLst>
          </p:cNvPr>
          <p:cNvSpPr txBox="1"/>
          <p:nvPr/>
        </p:nvSpPr>
        <p:spPr>
          <a:xfrm>
            <a:off x="527292" y="3594439"/>
            <a:ext cx="64145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DM Sans Semi Bold" panose="020B0604020202020204" charset="0"/>
              </a:rPr>
              <a:t>Real Estate Machine: Smart Segmentation, Accurate Pricing, and Client Guidance for Better Investments</a:t>
            </a:r>
          </a:p>
        </p:txBody>
      </p:sp>
    </p:spTree>
    <p:extLst>
      <p:ext uri="{BB962C8B-B14F-4D97-AF65-F5344CB8AC3E}">
        <p14:creationId xmlns:p14="http://schemas.microsoft.com/office/powerpoint/2010/main" val="417946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E414F-1E02-5336-9E22-07F7E181C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447F37-9240-D3E5-D3B8-C56DB2A43058}"/>
              </a:ext>
            </a:extLst>
          </p:cNvPr>
          <p:cNvSpPr txBox="1"/>
          <p:nvPr/>
        </p:nvSpPr>
        <p:spPr>
          <a:xfrm>
            <a:off x="4079362" y="289266"/>
            <a:ext cx="4033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Table of Contents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04E6D4F-F7A1-FB98-C3B7-2F57EF75BD11}"/>
              </a:ext>
            </a:extLst>
          </p:cNvPr>
          <p:cNvGrpSpPr/>
          <p:nvPr/>
        </p:nvGrpSpPr>
        <p:grpSpPr>
          <a:xfrm>
            <a:off x="300038" y="1578398"/>
            <a:ext cx="11591925" cy="4520786"/>
            <a:chOff x="300038" y="1578398"/>
            <a:chExt cx="11591925" cy="452078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6EE6944-5279-2470-8764-91A739646064}"/>
                </a:ext>
              </a:extLst>
            </p:cNvPr>
            <p:cNvGrpSpPr/>
            <p:nvPr/>
          </p:nvGrpSpPr>
          <p:grpSpPr>
            <a:xfrm>
              <a:off x="300038" y="1578398"/>
              <a:ext cx="11591925" cy="1846659"/>
              <a:chOff x="1515665" y="1867584"/>
              <a:chExt cx="9457135" cy="1846659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00E4CB-6198-C8E0-C1DD-4C9C1056BE20}"/>
                  </a:ext>
                </a:extLst>
              </p:cNvPr>
              <p:cNvSpPr txBox="1"/>
              <p:nvPr/>
            </p:nvSpPr>
            <p:spPr>
              <a:xfrm>
                <a:off x="1515665" y="1867584"/>
                <a:ext cx="2175273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01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ter" panose="020B0502030000000004" pitchFamily="34" charset="0"/>
                    <a:ea typeface="Inter" panose="020B0502030000000004" pitchFamily="34" charset="0"/>
                  </a:rPr>
                  <a:t>Data Cleaning &amp; Understanding</a:t>
                </a:r>
              </a:p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Handle missing values, outliers, and data types.</a:t>
                </a:r>
              </a:p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Explore distributions, correlations, and feature importance.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E8D59DC-CF15-F044-732E-0A32B184E5A1}"/>
                  </a:ext>
                </a:extLst>
              </p:cNvPr>
              <p:cNvSpPr txBox="1"/>
              <p:nvPr/>
            </p:nvSpPr>
            <p:spPr>
              <a:xfrm>
                <a:off x="3942952" y="1867584"/>
                <a:ext cx="2175273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02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ter" panose="020B0502030000000004" pitchFamily="34" charset="0"/>
                    <a:ea typeface="Inter" panose="020B0502030000000004" pitchFamily="34" charset="0"/>
                  </a:rPr>
                  <a:t>Exploratory Analysis &amp; Business Insights</a:t>
                </a:r>
              </a:p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Analyze price drivers</a:t>
                </a:r>
              </a:p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Provide recommendations for a real estate company                    (e.g., where to invest, which features matter most).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542F51D-EACE-4398-958E-EEE267D24138}"/>
                  </a:ext>
                </a:extLst>
              </p:cNvPr>
              <p:cNvSpPr txBox="1"/>
              <p:nvPr/>
            </p:nvSpPr>
            <p:spPr>
              <a:xfrm>
                <a:off x="8797527" y="1867584"/>
                <a:ext cx="2175273" cy="1661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04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ter" panose="020B0502030000000004" pitchFamily="34" charset="0"/>
                    <a:ea typeface="Inter" panose="020B0502030000000004" pitchFamily="34" charset="0"/>
                  </a:rPr>
                  <a:t>Category Classification</a:t>
                </a:r>
              </a:p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Preprocess data and build a classifier that predicts the cluster category for new houses.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905B0B-A66F-8973-88C0-A64415CFB1E9}"/>
                  </a:ext>
                </a:extLst>
              </p:cNvPr>
              <p:cNvSpPr txBox="1"/>
              <p:nvPr/>
            </p:nvSpPr>
            <p:spPr>
              <a:xfrm>
                <a:off x="6370239" y="1867584"/>
                <a:ext cx="2175273" cy="1661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03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ter" panose="020B0502030000000004" pitchFamily="34" charset="0"/>
                    <a:ea typeface="Inter" panose="020B0502030000000004" pitchFamily="34" charset="0"/>
                  </a:rPr>
                  <a:t>Unsupervised Learning (Clustering)</a:t>
                </a:r>
              </a:p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Apply clustering to group properties.</a:t>
                </a:r>
              </a:p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Define meaningful categories for clusters.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4EFA15A-40DC-F893-3707-4DCDE8797988}"/>
                </a:ext>
              </a:extLst>
            </p:cNvPr>
            <p:cNvGrpSpPr/>
            <p:nvPr/>
          </p:nvGrpSpPr>
          <p:grpSpPr>
            <a:xfrm>
              <a:off x="1787642" y="4067859"/>
              <a:ext cx="8616717" cy="2031325"/>
              <a:chOff x="1787642" y="4067859"/>
              <a:chExt cx="8616717" cy="2031325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0FD0B57-DA93-1439-852E-95AF6207FFC8}"/>
                  </a:ext>
                </a:extLst>
              </p:cNvPr>
              <p:cNvSpPr txBox="1"/>
              <p:nvPr/>
            </p:nvSpPr>
            <p:spPr>
              <a:xfrm>
                <a:off x="1787642" y="4067859"/>
                <a:ext cx="2666304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0</a:t>
                </a:r>
                <a:r>
                  <a:rPr 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ter" panose="020B0502030000000004" pitchFamily="34" charset="0"/>
                    <a:ea typeface="Inter" panose="020B0502030000000004" pitchFamily="34" charset="0"/>
                  </a:rPr>
                  <a:t>5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Inter" panose="020B0502030000000004" pitchFamily="34" charset="0"/>
                  <a:ea typeface="Inter" panose="020B0502030000000004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ter" panose="020B0502030000000004" pitchFamily="34" charset="0"/>
                    <a:ea typeface="Inter" panose="020B0502030000000004" pitchFamily="34" charset="0"/>
                  </a:rPr>
                  <a:t>Price Regression Modeling</a:t>
                </a:r>
              </a:p>
              <a:p>
                <a:pPr marL="171450" marR="0" lvl="0" indent="-1714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Build regression models to predict prices.</a:t>
                </a:r>
              </a:p>
              <a:p>
                <a:pPr marL="171450" marR="0" lvl="0" indent="-1714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Evaluate using metrics.</a:t>
                </a:r>
              </a:p>
              <a:p>
                <a:pPr marL="171450" marR="0" lvl="0" indent="-1714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Students must research market-acceptable error levels.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273F967-C4E5-3B10-3864-0809F8C390E1}"/>
                  </a:ext>
                </a:extLst>
              </p:cNvPr>
              <p:cNvSpPr txBox="1"/>
              <p:nvPr/>
            </p:nvSpPr>
            <p:spPr>
              <a:xfrm>
                <a:off x="4762850" y="4067859"/>
                <a:ext cx="2666304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06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ter" panose="020B0502030000000004" pitchFamily="34" charset="0"/>
                    <a:ea typeface="Inter" panose="020B0502030000000004" pitchFamily="34" charset="0"/>
                  </a:rPr>
                  <a:t>LLM-based Model Interpretation</a:t>
                </a:r>
              </a:p>
              <a:p>
                <a:pPr marL="171450" marR="0" lvl="0" indent="-1714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Use a Large Language Model (LLM) to interpret regression predictions:</a:t>
                </a:r>
              </a:p>
              <a:p>
                <a:pPr marL="228600" marR="0" lvl="0" indent="-22860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Why was this price predicted?</a:t>
                </a:r>
              </a:p>
              <a:p>
                <a:pPr marL="228600" marR="0" lvl="0" indent="-22860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Is it realistic compared to the market?.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321A1CB-10EF-EDA0-94E2-8ABA30BF38D5}"/>
                  </a:ext>
                </a:extLst>
              </p:cNvPr>
              <p:cNvSpPr txBox="1"/>
              <p:nvPr/>
            </p:nvSpPr>
            <p:spPr>
              <a:xfrm>
                <a:off x="7738055" y="4067859"/>
                <a:ext cx="266630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07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ter" panose="020B0502030000000004" pitchFamily="34" charset="0"/>
                    <a:ea typeface="Inter" panose="020B0502030000000004" pitchFamily="34" charset="0"/>
                  </a:rPr>
                  <a:t>Deployment</a:t>
                </a:r>
              </a:p>
              <a:p>
                <a:pPr marL="171450" marR="0" lvl="0" indent="-17145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Courier New" panose="02070309020205020404" pitchFamily="49" charset="0"/>
                  <a:buChar char="o"/>
                  <a:tabLst/>
                  <a:defRPr/>
                </a:pPr>
                <a:r>
                  <a: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Inter" panose="020B0502030000000004" pitchFamily="34" charset="0"/>
                    <a:ea typeface="Inter" panose="020B0502030000000004" pitchFamily="34" charset="0"/>
                  </a:rPr>
                  <a:t>Build a Streamlit app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1931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56CA-3582-12B3-8CC8-938C03AA8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AF96A2-0F0D-BB5F-96A5-9E3DB5348243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01. Data Cleaning &amp; Understanding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31BD4B7-B1D2-1DC5-4D15-C8BDC6F61D1D}"/>
              </a:ext>
            </a:extLst>
          </p:cNvPr>
          <p:cNvSpPr/>
          <p:nvPr/>
        </p:nvSpPr>
        <p:spPr>
          <a:xfrm>
            <a:off x="350708" y="1200087"/>
            <a:ext cx="11389245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Dataset Overview &amp; Structure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Purpose: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Understand the Washington housing market and prepare data for pricing and segmentation decisions.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Dataset Summary: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4,600 residential properties (Washington, USA)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18 final features after cleaning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No missing values or duplicates</a:t>
            </a:r>
          </a:p>
          <a:p>
            <a:pPr lvl="2">
              <a:lnSpc>
                <a:spcPts val="2200"/>
              </a:lnSpc>
              <a:buSzPct val="100000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Feature Groups (Business-Oriented):</a:t>
            </a:r>
            <a:endParaRPr kumimoji="0" lang="ar-EG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Time (sale date):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date</a:t>
            </a:r>
            <a:endParaRPr kumimoji="0" lang="ar-EG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Pricing (Target):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price</a:t>
            </a:r>
            <a:endParaRPr kumimoji="0" lang="ar-EG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Property Size &amp; Space: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sqft_living, sqft_lot, sqft_above, sqft_basement</a:t>
            </a:r>
            <a:endParaRPr kumimoji="0" lang="ar-EG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Rooms &amp; Layout: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bedrooms, bathrooms, floors</a:t>
            </a:r>
            <a:endParaRPr kumimoji="0" lang="ar-EG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Quality &amp; Condition: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condition, view, waterfront</a:t>
            </a:r>
            <a:endParaRPr kumimoji="0" lang="ar-EG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Property Age: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yr_built, yr_renovated</a:t>
            </a:r>
            <a:endParaRPr kumimoji="0" lang="ar-EG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Location: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city, statezip, street, country</a:t>
            </a:r>
            <a:endParaRPr kumimoji="0" lang="ar-EG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Data Consistency Check Verified: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sqft_living = sqft_above + sqft_basement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FCFA0-E895-FB85-CE88-14EEA3138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" b="97656" l="5386" r="98108">
                        <a14:foregroundMark x1="55459" y1="10156" x2="31587" y2="9570"/>
                        <a14:foregroundMark x1="31587" y1="9570" x2="30859" y2="21289"/>
                        <a14:foregroundMark x1="30859" y1="21289" x2="39738" y2="31348"/>
                        <a14:foregroundMark x1="48763" y1="12207" x2="54148" y2="14844"/>
                        <a14:foregroundMark x1="14896" y1="20024" x2="14410" y2="20508"/>
                        <a14:foregroundMark x1="30568" y1="4395" x2="16145" y2="18778"/>
                        <a14:foregroundMark x1="14583" y1="18175" x2="15575" y2="4785"/>
                        <a14:foregroundMark x1="14410" y1="20508" x2="14488" y2="19452"/>
                        <a14:foregroundMark x1="15575" y1="4785" x2="8879" y2="5859"/>
                        <a14:foregroundMark x1="51528" y1="8984" x2="63173" y2="17773"/>
                        <a14:foregroundMark x1="63173" y1="17773" x2="60262" y2="17871"/>
                        <a14:foregroundMark x1="60262" y1="17871" x2="53275" y2="2637"/>
                        <a14:foregroundMark x1="11645" y1="3418" x2="5386" y2="20117"/>
                        <a14:foregroundMark x1="5386" y1="20117" x2="11208" y2="20117"/>
                        <a14:foregroundMark x1="16594" y1="586" x2="18486" y2="98"/>
                        <a14:foregroundMark x1="88937" y1="31445" x2="86754" y2="57617"/>
                        <a14:foregroundMark x1="86754" y1="57617" x2="94760" y2="47266"/>
                        <a14:foregroundMark x1="94760" y1="47266" x2="90975" y2="75391"/>
                        <a14:foregroundMark x1="90975" y1="75391" x2="92722" y2="38672"/>
                        <a14:foregroundMark x1="92722" y1="38672" x2="80640" y2="85547"/>
                        <a14:foregroundMark x1="80640" y1="85547" x2="91266" y2="72754"/>
                        <a14:foregroundMark x1="91266" y1="72754" x2="35226" y2="83691"/>
                        <a14:foregroundMark x1="35226" y1="83691" x2="22416" y2="52734"/>
                        <a14:foregroundMark x1="22416" y1="52734" x2="6696" y2="82227"/>
                        <a14:foregroundMark x1="6696" y1="82227" x2="41048" y2="64063"/>
                        <a14:foregroundMark x1="41048" y1="64063" x2="39010" y2="78516"/>
                        <a14:foregroundMark x1="39010" y1="78516" x2="39010" y2="78516"/>
                        <a14:foregroundMark x1="78457" y1="51367" x2="91994" y2="77344"/>
                        <a14:foregroundMark x1="91994" y1="77344" x2="85298" y2="40332"/>
                        <a14:foregroundMark x1="85298" y1="40332" x2="99563" y2="68262"/>
                        <a14:foregroundMark x1="99563" y1="68262" x2="97234" y2="54492"/>
                        <a14:foregroundMark x1="97234" y1="54492" x2="98108" y2="60938"/>
                        <a14:foregroundMark x1="86026" y1="94336" x2="28675" y2="88770"/>
                        <a14:foregroundMark x1="28675" y1="88770" x2="55459" y2="91895"/>
                        <a14:foregroundMark x1="55459" y1="91895" x2="28239" y2="93359"/>
                        <a14:foregroundMark x1="28239" y1="93359" x2="88210" y2="95313"/>
                        <a14:foregroundMark x1="88210" y1="95313" x2="8443" y2="97656"/>
                        <a14:backgroundMark x1="74672" y1="9277" x2="77147" y2="13477"/>
                        <a14:backgroundMark x1="77147" y1="13477" x2="76710" y2="11914"/>
                        <a14:backgroundMark x1="77584" y1="20117" x2="89520" y2="10938"/>
                        <a14:backgroundMark x1="89520" y1="10938" x2="96215" y2="17676"/>
                        <a14:backgroundMark x1="96215" y1="17676" x2="75400" y2="4492"/>
                        <a14:backgroundMark x1="75400" y1="4492" x2="74381" y2="19727"/>
                        <a14:backgroundMark x1="74381" y1="19727" x2="79330" y2="32227"/>
                        <a14:backgroundMark x1="68850" y1="13379" x2="71033" y2="1855"/>
                        <a14:backgroundMark x1="71033" y1="1855" x2="69287" y2="15918"/>
                        <a14:backgroundMark x1="69287" y1="15918" x2="70015" y2="17285"/>
                        <a14:backgroundMark x1="7278" y1="26855" x2="6114" y2="43359"/>
                        <a14:backgroundMark x1="6114" y1="43359" x2="5968" y2="37207"/>
                        <a14:backgroundMark x1="14119" y1="30078" x2="7569" y2="27539"/>
                        <a14:backgroundMark x1="24017" y1="30176" x2="12809" y2="39160"/>
                        <a14:backgroundMark x1="12809" y1="39160" x2="15575" y2="41211"/>
                        <a14:backgroundMark x1="26492" y1="25488" x2="15866" y2="213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39200" y="1882140"/>
            <a:ext cx="2772950" cy="413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6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E377B-6153-E990-72FD-592123F37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5D2045-E24C-89C1-B0FC-0467F72A0B14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01. Data Cleaning &amp; Understanding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6640123-C4C9-FBB5-EE31-94FD824B1109}"/>
              </a:ext>
            </a:extLst>
          </p:cNvPr>
          <p:cNvSpPr/>
          <p:nvPr/>
        </p:nvSpPr>
        <p:spPr>
          <a:xfrm>
            <a:off x="350708" y="1200087"/>
            <a:ext cx="11389245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Data Cleaning &amp; Preparation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Key Cleaning Actions: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Converted date fields to proper datetime format</a:t>
            </a:r>
          </a:p>
          <a:p>
            <a:pPr lvl="1">
              <a:lnSpc>
                <a:spcPts val="2200"/>
              </a:lnSpc>
              <a:buSzPct val="100000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Removed logically invalid records: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Price = 0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Bedrooms =0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Bathrooms = 0</a:t>
            </a:r>
          </a:p>
          <a:p>
            <a:pPr lvl="2">
              <a:lnSpc>
                <a:spcPts val="2200"/>
              </a:lnSpc>
              <a:buSzPct val="100000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Removed Columns (Low Business Value):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street → Too granular, high cardinality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country → Single value (USA)</a:t>
            </a:r>
          </a:p>
          <a:p>
            <a:pPr lvl="2">
              <a:lnSpc>
                <a:spcPts val="2200"/>
              </a:lnSpc>
              <a:buSzPct val="100000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Impact: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Cleaner dataset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Reduced noise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Better generalization for models</a:t>
            </a:r>
          </a:p>
          <a:p>
            <a:pPr lvl="2">
              <a:lnSpc>
                <a:spcPts val="2200"/>
              </a:lnSpc>
              <a:buSzPct val="100000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Business Value: Prevents misleading price predictions and unrealistic property profiles.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E1A7C4C-18CB-9BF9-7737-0B283BC6A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41960"/>
            <a:ext cx="4145280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2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65FDD-724B-FAF7-4CC4-B0C7AC189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9C634B-3FB3-0D64-E122-9726B9E42264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01. Data Cleaning &amp; Understanding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DFDAD1F-77CB-E98A-181B-5CEF5193EF19}"/>
              </a:ext>
            </a:extLst>
          </p:cNvPr>
          <p:cNvSpPr/>
          <p:nvPr/>
        </p:nvSpPr>
        <p:spPr>
          <a:xfrm>
            <a:off x="350708" y="1200087"/>
            <a:ext cx="11389245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Outlier Analysis (Business-Driven Filtering)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Problem Identified: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Extreme luxury properties distorted market behavior: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Max price: $26.59M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Max Sqft Living: 13.54k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Outlier Analysis Results: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Price outliers detected: 239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Sqft_living outliers detected: 127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Business Decision (Not Aggressive Removal):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Removed only extreme cases that distort the market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Houses with price &gt; $4,000,000 → 5 properties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Houses with sqft_living &gt; 7,320 → 4 properties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Why This Matters: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Keeps luxury segment realistic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Improves pricing accuracy for 99% of the market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F9941E4-E020-672A-C736-853D12F7CF3E}"/>
              </a:ext>
            </a:extLst>
          </p:cNvPr>
          <p:cNvGrpSpPr/>
          <p:nvPr/>
        </p:nvGrpSpPr>
        <p:grpSpPr>
          <a:xfrm>
            <a:off x="6861048" y="1089195"/>
            <a:ext cx="5330952" cy="5694601"/>
            <a:chOff x="6861048" y="1089195"/>
            <a:chExt cx="5330952" cy="56946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9A0922-CF5D-148A-87F4-A3F500E58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1048" y="3936274"/>
              <a:ext cx="5330952" cy="284752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E8291CC-8FA3-AB66-6CEC-F246B68C4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1463" y="1089195"/>
              <a:ext cx="5330123" cy="2847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7244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E3BEE-06DA-EE15-B31D-E6FBCA87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348C4D-48F5-FD30-F931-A9A039E6C623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01. Data Cleaning &amp; Understanding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33C50E7-680B-207F-5BB7-37D42C3FDC4F}"/>
              </a:ext>
            </a:extLst>
          </p:cNvPr>
          <p:cNvSpPr/>
          <p:nvPr/>
        </p:nvSpPr>
        <p:spPr>
          <a:xfrm>
            <a:off x="350708" y="1200087"/>
            <a:ext cx="11389245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Feature Correlation Heatmap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ADDD6-FD89-709F-514E-332066A75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8"/>
          <a:stretch>
            <a:fillRect/>
          </a:stretch>
        </p:blipFill>
        <p:spPr>
          <a:xfrm>
            <a:off x="509107" y="1684019"/>
            <a:ext cx="11173786" cy="507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0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5B27-D8DD-A4D3-2A56-E54AE4F3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836C4ED-023E-C34E-9AD7-0D39D5BAE508}"/>
              </a:ext>
            </a:extLst>
          </p:cNvPr>
          <p:cNvGrpSpPr/>
          <p:nvPr/>
        </p:nvGrpSpPr>
        <p:grpSpPr>
          <a:xfrm>
            <a:off x="7227584" y="880047"/>
            <a:ext cx="4964416" cy="5895576"/>
            <a:chOff x="7227584" y="1200087"/>
            <a:chExt cx="4964416" cy="5895576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CE51A5B-0893-DCEE-C0CE-2B19371F3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725" b="98092" l="204" r="86850">
                          <a14:foregroundMark x1="18145" y1="16603" x2="13660" y2="58588"/>
                          <a14:foregroundMark x1="13660" y1="58588" x2="23445" y2="50763"/>
                          <a14:foregroundMark x1="23445" y1="50763" x2="42915" y2="61832"/>
                          <a14:foregroundMark x1="42915" y1="61832" x2="51784" y2="51908"/>
                          <a14:foregroundMark x1="51784" y1="51908" x2="55148" y2="24618"/>
                          <a14:foregroundMark x1="55148" y1="24618" x2="70438" y2="67366"/>
                          <a14:foregroundMark x1="70438" y1="67366" x2="77166" y2="53244"/>
                          <a14:foregroundMark x1="77166" y1="53244" x2="79103" y2="34542"/>
                          <a14:foregroundMark x1="79103" y1="34542" x2="81855" y2="65840"/>
                          <a14:foregroundMark x1="81855" y1="65840" x2="79613" y2="38359"/>
                          <a14:foregroundMark x1="79613" y1="38359" x2="83792" y2="87023"/>
                          <a14:foregroundMark x1="83792" y1="87023" x2="75025" y2="43702"/>
                          <a14:foregroundMark x1="75025" y1="43702" x2="39551" y2="54962"/>
                          <a14:foregroundMark x1="39551" y1="54962" x2="24363" y2="46374"/>
                          <a14:foregroundMark x1="24363" y1="46374" x2="13150" y2="52481"/>
                          <a14:foregroundMark x1="13150" y1="52481" x2="20693" y2="14313"/>
                          <a14:foregroundMark x1="20693" y1="14313" x2="24669" y2="35115"/>
                          <a14:foregroundMark x1="52497" y1="382" x2="18043" y2="13931"/>
                          <a14:foregroundMark x1="18043" y1="13931" x2="28848" y2="7252"/>
                          <a14:foregroundMark x1="28848" y1="7252" x2="204" y2="15649"/>
                          <a14:foregroundMark x1="5403" y1="7634" x2="5199" y2="65076"/>
                          <a14:foregroundMark x1="5199" y1="65076" x2="1835" y2="29580"/>
                          <a14:foregroundMark x1="1835" y1="29580" x2="6014" y2="80534"/>
                          <a14:foregroundMark x1="6014" y1="80534" x2="3568" y2="27481"/>
                          <a14:foregroundMark x1="3568" y1="27481" x2="3670" y2="98282"/>
                          <a14:foregroundMark x1="30377" y1="4389" x2="15698" y2="4389"/>
                          <a14:foregroundMark x1="15698" y1="4389" x2="31193" y2="1336"/>
                          <a14:foregroundMark x1="31193" y1="1336" x2="13150" y2="7252"/>
                          <a14:foregroundMark x1="13150" y1="7252" x2="18858" y2="5916"/>
                          <a14:foregroundMark x1="42304" y1="7634" x2="68196" y2="9351"/>
                          <a14:foregroundMark x1="68196" y1="9351" x2="68909" y2="35687"/>
                          <a14:foregroundMark x1="68909" y1="35687" x2="82263" y2="8206"/>
                          <a14:foregroundMark x1="81967" y1="32498" x2="81448" y2="75191"/>
                          <a14:foregroundMark x1="82047" y1="25954" x2="81979" y2="31512"/>
                          <a14:foregroundMark x1="82109" y1="20871" x2="82079" y2="23355"/>
                          <a14:foregroundMark x1="82263" y1="8206" x2="82152" y2="17348"/>
                          <a14:foregroundMark x1="78084" y1="96374" x2="40163" y2="95611"/>
                          <a14:foregroundMark x1="40163" y1="95611" x2="55454" y2="90649"/>
                          <a14:foregroundMark x1="55454" y1="90649" x2="30887" y2="95992"/>
                          <a14:foregroundMark x1="30887" y1="95992" x2="42406" y2="84351"/>
                          <a14:foregroundMark x1="42406" y1="84351" x2="86544" y2="73855"/>
                          <a14:foregroundMark x1="86544" y1="73855" x2="86850" y2="73855"/>
                          <a14:foregroundMark x1="82365" y1="54580" x2="82161" y2="34733"/>
                          <a14:foregroundMark x1="82161" y1="34733" x2="83384" y2="62595"/>
                          <a14:foregroundMark x1="83384" y1="62595" x2="83384" y2="62595"/>
                          <a14:foregroundMark x1="83384" y1="62595" x2="83384" y2="62595"/>
                          <a14:backgroundMark x1="83792" y1="21183" x2="82569" y2="21947"/>
                          <a14:backgroundMark x1="82467" y1="23664" x2="82467" y2="25954"/>
                          <a14:backgroundMark x1="82977" y1="26908" x2="83384" y2="25954"/>
                          <a14:backgroundMark x1="83384" y1="25954" x2="82467" y2="26908"/>
                          <a14:backgroundMark x1="82467" y1="26908" x2="81855" y2="25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635"/>
            <a:stretch>
              <a:fillRect/>
            </a:stretch>
          </p:blipFill>
          <p:spPr>
            <a:xfrm>
              <a:off x="7227584" y="1200087"/>
              <a:ext cx="4964416" cy="318086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0D5AE89-0C83-19DD-8723-19C88D256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86"/>
            <a:stretch>
              <a:fillRect/>
            </a:stretch>
          </p:blipFill>
          <p:spPr>
            <a:xfrm>
              <a:off x="7227584" y="4290333"/>
              <a:ext cx="4895536" cy="280533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8C14DA8-D6D9-9D22-DEE9-F9CA626A356C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02. Exploratory Analysis &amp; Business Insights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3B1C2D0-112F-FD56-CA45-B39ADF8BEE3C}"/>
              </a:ext>
            </a:extLst>
          </p:cNvPr>
          <p:cNvSpPr/>
          <p:nvPr/>
        </p:nvSpPr>
        <p:spPr>
          <a:xfrm>
            <a:off x="350708" y="1200087"/>
            <a:ext cx="7017832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01. Market Timing &amp; Property Age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Key Question: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When is the best time to sell, and does house age really reduce value?</a:t>
            </a:r>
          </a:p>
          <a:p>
            <a:pPr lvl="1">
              <a:lnSpc>
                <a:spcPts val="2200"/>
              </a:lnSpc>
              <a:buSzPct val="100000"/>
              <a:defRPr/>
            </a:pP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Insights: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Market Seasonality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Sales peak in June, confirming summer as the optimal selling season for faster liquidity.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Year Built vs Price: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New houses (post-2000) command premium prices.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Very old but renovated houses also maintain high value.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Age vs Condition: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Property condition offsets age depreciation; well-maintained older homes do not lose value significantly.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Renovation Opportunity: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Only a small portion of houses are renovated, yet renovated units consistently sell at a price premium.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720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C659-8E5D-B45A-9FDF-AF132C1A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28BBDAF-DD12-2E6E-3A22-6E5B5CC9BC36}"/>
              </a:ext>
            </a:extLst>
          </p:cNvPr>
          <p:cNvGrpSpPr/>
          <p:nvPr/>
        </p:nvGrpSpPr>
        <p:grpSpPr>
          <a:xfrm>
            <a:off x="7170421" y="935597"/>
            <a:ext cx="5021580" cy="5861443"/>
            <a:chOff x="7314247" y="935597"/>
            <a:chExt cx="9344025" cy="897636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72B966D-EA25-6235-3C60-F92B4166B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08" r="8807" b="5269"/>
            <a:stretch>
              <a:fillRect/>
            </a:stretch>
          </p:blipFill>
          <p:spPr>
            <a:xfrm>
              <a:off x="7314247" y="935597"/>
              <a:ext cx="9344025" cy="448818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1B8B8D0-53BE-6FFA-3AAC-7349D7E90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66" b="5110"/>
            <a:stretch>
              <a:fillRect/>
            </a:stretch>
          </p:blipFill>
          <p:spPr>
            <a:xfrm>
              <a:off x="7314247" y="5423778"/>
              <a:ext cx="9344025" cy="448818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24826B5-A568-0F2F-8050-7B209116B6CB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02. Exploratory Analysis &amp; Business Insights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DAD8683-B907-1C14-68C2-BEE09755E3CF}"/>
              </a:ext>
            </a:extLst>
          </p:cNvPr>
          <p:cNvSpPr/>
          <p:nvPr/>
        </p:nvSpPr>
        <p:spPr>
          <a:xfrm>
            <a:off x="350708" y="1200087"/>
            <a:ext cx="7017832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02. Space &amp; Size: The Primary Price Driver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Key Question: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What physical attributes most strongly influence price?</a:t>
            </a:r>
          </a:p>
          <a:p>
            <a:pPr lvl="2">
              <a:lnSpc>
                <a:spcPts val="2200"/>
              </a:lnSpc>
              <a:buSzPct val="100000"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Insights: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Living Area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Domzinance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sqft_living shows a strong positive correlation with price (ρ ≈ 0.69), making it the top pricing driver.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Basement Value: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Houses with basements sell for approximately $126K more on average, representing a strong value-add feature.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Floors Effect: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Two-story and 2.5-story houses achieve higher average prices than single-floor units.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Market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Supply Reality: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Most available inventory falls between 1,500 – 2,500 sqft, aligning with highest market demand.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308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81EE-D794-0B0A-218D-2B9FF78A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75F8511-5BBC-24CB-87AC-436EE3793C76}"/>
              </a:ext>
            </a:extLst>
          </p:cNvPr>
          <p:cNvGrpSpPr/>
          <p:nvPr/>
        </p:nvGrpSpPr>
        <p:grpSpPr>
          <a:xfrm>
            <a:off x="6611463" y="935597"/>
            <a:ext cx="5443378" cy="5777623"/>
            <a:chOff x="1653540" y="-441961"/>
            <a:chExt cx="9114471" cy="916596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0332930-DE0B-E3F2-B498-1B1210694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99" t="4827" r="12569"/>
            <a:stretch>
              <a:fillRect/>
            </a:stretch>
          </p:blipFill>
          <p:spPr>
            <a:xfrm>
              <a:off x="1653540" y="-441961"/>
              <a:ext cx="9114470" cy="475017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F9021BC-172B-1687-D4CB-91992ED14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57" t="5858" b="5669"/>
            <a:stretch>
              <a:fillRect/>
            </a:stretch>
          </p:blipFill>
          <p:spPr>
            <a:xfrm>
              <a:off x="1653540" y="4308214"/>
              <a:ext cx="9114471" cy="441579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B8D3A07-F596-C625-128F-84856E4CE30D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02. Exploratory Analysis &amp; Business Insights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A818FC3-A696-7B64-4BF7-6052833B3900}"/>
              </a:ext>
            </a:extLst>
          </p:cNvPr>
          <p:cNvSpPr/>
          <p:nvPr/>
        </p:nvSpPr>
        <p:spPr>
          <a:xfrm>
            <a:off x="350708" y="1200087"/>
            <a:ext cx="5882451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03. Rooms &amp; Functional Demand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Key Question: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What configurations does the market actually want?</a:t>
            </a:r>
          </a:p>
          <a:p>
            <a:pPr lvl="2">
              <a:lnSpc>
                <a:spcPts val="2200"/>
              </a:lnSpc>
              <a:buSzPct val="100000"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Insights: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Bedroom Demand: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3-bedroom houses dominate the market (~44%), confirming family-oriented demand.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Bathrooms as a Luxury Signal: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 major price jump occurs when moving from 2 to 3+ bathrooms, indicating luxury perception rather than necessity.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Golden Configuration: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The most common and demanded layout is 3 Bedrooms / 2 Bathrooms, forming the regional standard.</a:t>
            </a:r>
            <a:endParaRPr kumimoji="0" lang="en-US" sz="11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7263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5AD6-F748-F995-D4BD-AD20C016A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24B3BB-7A39-D0B1-FDCB-FE73E2963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380" y="1014360"/>
            <a:ext cx="6728459" cy="58436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BAB58D-C7BC-B470-6488-0947DF922AC9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02. Exploratory Analysis &amp; Business Insights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1546F0E-6FC7-72A4-5E17-1F9DE784CDCC}"/>
              </a:ext>
            </a:extLst>
          </p:cNvPr>
          <p:cNvSpPr/>
          <p:nvPr/>
        </p:nvSpPr>
        <p:spPr>
          <a:xfrm>
            <a:off x="350709" y="1200087"/>
            <a:ext cx="4922331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04. Luxury &amp; Quality Premium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Key Question: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Why are some houses priced far above the average?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Insights: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Waterfront Effect: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Waterfront properties sell for ~2.4× the price of non-waterfront homes — the strongest premium in the dataset.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View Quality: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Price increases exponentially as view quality improves from level 0 to 4.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Luxury Profile: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Top 10% priced homes are defined more by view and location than by condition alone</a:t>
            </a: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67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3618-7B2A-D0A7-4A7E-5D712A78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591692C-857E-85FF-C04A-4B29EA8DDF3F}"/>
              </a:ext>
            </a:extLst>
          </p:cNvPr>
          <p:cNvGrpSpPr/>
          <p:nvPr/>
        </p:nvGrpSpPr>
        <p:grpSpPr>
          <a:xfrm>
            <a:off x="6228769" y="811530"/>
            <a:ext cx="5887031" cy="5939790"/>
            <a:chOff x="5840148" y="-377190"/>
            <a:chExt cx="9332161" cy="872109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CECBCF8-FD6D-38B4-378D-5E0FC8F11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7" t="3512" b="13664"/>
            <a:stretch>
              <a:fillRect/>
            </a:stretch>
          </p:blipFill>
          <p:spPr>
            <a:xfrm>
              <a:off x="5840148" y="-377190"/>
              <a:ext cx="9332160" cy="41338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89915E0-8E84-AAEF-9621-37B3CD335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46" b="4046"/>
            <a:stretch>
              <a:fillRect/>
            </a:stretch>
          </p:blipFill>
          <p:spPr>
            <a:xfrm>
              <a:off x="5840148" y="3756660"/>
              <a:ext cx="9332161" cy="458724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8572C4A-DEFE-61BD-350E-5180BF01EB86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02. Exploratory Analysis &amp; Business Insights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EE64126-A228-3A54-784F-ED504C78C7FB}"/>
              </a:ext>
            </a:extLst>
          </p:cNvPr>
          <p:cNvSpPr/>
          <p:nvPr/>
        </p:nvSpPr>
        <p:spPr>
          <a:xfrm>
            <a:off x="350709" y="1200087"/>
            <a:ext cx="6149151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05.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Geography &amp; Investment Strategy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Key Question: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Where is money made fast, and where is it made big?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Insights: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High-End Safe Zones: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Medina, Clyde Hill, and Mercer Island lead in average prices - ideal for premium investments.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Liquidity vs Margin Trade-off: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Seattle: Highest transaction volume → faster exits (high liquidity)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.Luxury cities: Lower volume but significantly higher margins.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Luxury Clustering: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Waterfront properties are geographically concentrated, reinforcing persistent price premiums.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665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6B60-0BCA-120E-1E66-E2C0EAC0E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737D5D-5E66-F07A-E7EE-7951009ED219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02. Exploratory Analysis &amp; Business Insights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37FB9AC-ACAB-97C1-C05C-C3836E5C6196}"/>
              </a:ext>
            </a:extLst>
          </p:cNvPr>
          <p:cNvSpPr/>
          <p:nvPr/>
        </p:nvSpPr>
        <p:spPr>
          <a:xfrm>
            <a:off x="350709" y="1200087"/>
            <a:ext cx="10675431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Mandatory for Business</a:t>
            </a:r>
          </a:p>
          <a:p>
            <a:pPr marL="285750" marR="0" lvl="0" indent="-28575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Strategic Recommendations</a:t>
            </a:r>
          </a:p>
          <a:p>
            <a:pPr marL="285750" marR="0" lvl="0" indent="-28575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Price Drivers: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Living area and waterfront view are the strongest determinants of price.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Investment Playbooks: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High Liquidity Strategy: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Invest in Seattle, targeting 3-bedroom family homes.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High Margin Strategy: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Invest in Bellevue, Medina, and surrounding luxury zones with premium views.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Value Creation Opportunities: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Renovating older properties and adding basements delivers ROI exceeding construction costs.</a:t>
            </a:r>
            <a:endParaRPr kumimoji="0" lang="en-US" sz="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64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2E322-441C-339B-5568-DD65119B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FA203F-A47E-4C86-3E4F-7BB39416B559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03. Unsupervised Learning (Clustering)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F7CF845-77EC-DB73-778B-56484E512DA0}"/>
              </a:ext>
            </a:extLst>
          </p:cNvPr>
          <p:cNvSpPr/>
          <p:nvPr/>
        </p:nvSpPr>
        <p:spPr>
          <a:xfrm>
            <a:off x="350709" y="902907"/>
            <a:ext cx="10561131" cy="529036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Why Clustering &amp; Model Choice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Why Clustering?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The real estate market is not homogeneous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Similar houses behave differently in price and demand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Segmentation improves pricing, marketing, and client targeting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Why We Did NOT Use Price in Clustering?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To avoid data leakage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Clusters represent property profiles, not price labels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Enables fair classification for new, unseen properties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lvl="2">
              <a:lnSpc>
                <a:spcPts val="2200"/>
              </a:lnSpc>
              <a:buSzPct val="100000"/>
              <a:defRPr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Features Used (Business-Driven):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Living area (size)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Bedrooms &amp; bathrooms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View &amp; waterfront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Property condition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House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ageWhy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K-Means?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Real estate properties naturally form compact, interpretable groups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Scales well to large housing datasets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Easy to explain and deploy in production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Why Not Other Models?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Hierarchical → not scalable for production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DBSCAN → sensitive to density, unstable with mixed housing types</a:t>
            </a:r>
            <a:endParaRPr kumimoji="0" lang="en-US" sz="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411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7C81D-F608-2654-DD29-E2B624B5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B24E8C0-A99A-BFC4-C7E4-E1251FB837F5}"/>
              </a:ext>
            </a:extLst>
          </p:cNvPr>
          <p:cNvGrpSpPr/>
          <p:nvPr/>
        </p:nvGrpSpPr>
        <p:grpSpPr>
          <a:xfrm>
            <a:off x="5452428" y="935597"/>
            <a:ext cx="6388864" cy="5764914"/>
            <a:chOff x="2620327" y="785394"/>
            <a:chExt cx="9344025" cy="100619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11B3262-9F0D-4026-0642-BAAB4735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20327" y="785394"/>
              <a:ext cx="9344024" cy="49911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C31C33-D048-F383-6995-A535D2E81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0327" y="5856293"/>
              <a:ext cx="9344025" cy="49911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D0C81E9-F4FA-9017-0707-201393F9154D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03. Unsupervised Learning (Clustering)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F1F3153-7AEE-5A36-3A01-747A921AA5DB}"/>
              </a:ext>
            </a:extLst>
          </p:cNvPr>
          <p:cNvSpPr/>
          <p:nvPr/>
        </p:nvSpPr>
        <p:spPr>
          <a:xfrm>
            <a:off x="350709" y="902907"/>
            <a:ext cx="10675431" cy="529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Identified Segment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Entry-Level / Affordable Homes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Smaller, older properties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Minimal premium features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Price-sensitive buyers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Mid-Market / Family Homes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3–4 bedrooms, balanced space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Largest market share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High transaction volume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Premium / Luxury Homes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Large space, views, waterfront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High margins, lower volume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Market Distribution: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Mid-Market: ~50%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Entry-Level: ~40%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Premium: ~7%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Business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 Impact: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Segment-specific pricing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Targeted marketing strategies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Better client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963921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9C0D0-499A-6A5B-77A6-AB2F13C5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8849BD-88DE-49D9-DFF3-88D31CD0D241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04. Category Classification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1303AC5-4EF2-B2E3-94F9-2A9692E5FBC0}"/>
              </a:ext>
            </a:extLst>
          </p:cNvPr>
          <p:cNvSpPr/>
          <p:nvPr/>
        </p:nvSpPr>
        <p:spPr>
          <a:xfrm>
            <a:off x="881699" y="5676106"/>
            <a:ext cx="10675431" cy="303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We built a clean classification pipeline that learns property profiles, not prices.</a:t>
            </a:r>
            <a:endParaRPr kumimoji="0" lang="en-US" sz="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692E17-5493-E029-C40D-F92BB4816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204340"/>
              </p:ext>
            </p:extLst>
          </p:nvPr>
        </p:nvGraphicFramePr>
        <p:xfrm>
          <a:off x="838200" y="1181894"/>
          <a:ext cx="10591800" cy="4228307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5295900">
                  <a:extLst>
                    <a:ext uri="{9D8B030D-6E8A-4147-A177-3AD203B41FA5}">
                      <a16:colId xmlns:a16="http://schemas.microsoft.com/office/drawing/2014/main" val="520106543"/>
                    </a:ext>
                  </a:extLst>
                </a:gridCol>
                <a:gridCol w="5295900">
                  <a:extLst>
                    <a:ext uri="{9D8B030D-6E8A-4147-A177-3AD203B41FA5}">
                      <a16:colId xmlns:a16="http://schemas.microsoft.com/office/drawing/2014/main" val="3742978464"/>
                    </a:ext>
                  </a:extLst>
                </a:gridCol>
              </a:tblGrid>
              <a:tr h="54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672821"/>
                  </a:ext>
                </a:extLst>
              </a:tr>
              <a:tr h="954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Feature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Property profile features (size, rooms, condition, view, location signal)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003194"/>
                  </a:ext>
                </a:extLst>
              </a:tr>
              <a:tr h="54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Leakage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Price excluded to prevent target leakage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2607088"/>
                  </a:ext>
                </a:extLst>
              </a:tr>
              <a:tr h="54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Scaling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RobustScaler</a:t>
                      </a:r>
                      <a:r>
                        <a:rPr 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 to handle outliers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401871"/>
                  </a:ext>
                </a:extLst>
              </a:tr>
              <a:tr h="54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Train/Test Split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80% / 20% with stratified sampling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813465"/>
                  </a:ext>
                </a:extLst>
              </a:tr>
              <a:tr h="54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Models Tested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Logistic Regression, Random Forest, 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759835"/>
                  </a:ext>
                </a:extLst>
              </a:tr>
              <a:tr h="545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Final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XGBoost Classifier</a:t>
                      </a:r>
                      <a:endParaRPr lang="en-US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263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866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A1AD-4DEB-2A58-7505-B9895090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E3F82D-9EFA-2046-3B60-9ED89715FF59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04. Category Classification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2E4506E-9995-5913-1BF2-24AD326FB797}"/>
              </a:ext>
            </a:extLst>
          </p:cNvPr>
          <p:cNvSpPr/>
          <p:nvPr/>
        </p:nvSpPr>
        <p:spPr>
          <a:xfrm>
            <a:off x="630427" y="3642359"/>
            <a:ext cx="10675431" cy="303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Business Interpretation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Reliable instant segmentation for new listings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Errors reflect real market overlap, not model failure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Safe to use for pricing &amp; marketing automation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>
              <a:lnSpc>
                <a:spcPts val="2200"/>
              </a:lnSpc>
              <a:buSzPct val="100000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“High accuracy with business-safe errors enables automated decision support.”</a:t>
            </a:r>
            <a:endParaRPr kumimoji="0" lang="en-US" sz="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17548-4345-CF17-BF63-FBC0F84AF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842376"/>
              </p:ext>
            </p:extLst>
          </p:nvPr>
        </p:nvGraphicFramePr>
        <p:xfrm>
          <a:off x="838200" y="1486694"/>
          <a:ext cx="10515600" cy="182880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920427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3492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Metric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Result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083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98.6%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07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Macro 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≈ 0.99</a:t>
                      </a:r>
                      <a:endParaRPr lang="en-US" sz="1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 panose="020B0502030000000004" pitchFamily="34" charset="0"/>
                        <a:ea typeface="Inter" panose="020B05020300000000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476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Critical Errors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Near-zero (Entry ↔ Premium)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15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Error 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Only between neighboring segments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368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828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32213-B492-631E-0AA3-E65247D08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72C464-8C22-CC5D-E057-76C6BE745EB6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05. Price Regression Modeling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726F877-9CEB-7238-9461-283FC720318C}"/>
              </a:ext>
            </a:extLst>
          </p:cNvPr>
          <p:cNvSpPr/>
          <p:nvPr/>
        </p:nvSpPr>
        <p:spPr>
          <a:xfrm>
            <a:off x="630427" y="1135380"/>
            <a:ext cx="10675431" cy="300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Segmented Pricing Models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Modeling Approach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Market segmented into 3 clusters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One regression model per segment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Target: Log-transformed price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Models Used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XGBoost Regressor (per segment)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Selected for: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Non-linear pattern learning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Robust performance on tabular housing data</a:t>
            </a:r>
          </a:p>
          <a:p>
            <a:pPr marL="1657350" lvl="3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Stability under high price variance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AE17E5-A9B7-0186-6360-1E0B5EBB3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243403"/>
              </p:ext>
            </p:extLst>
          </p:nvPr>
        </p:nvGraphicFramePr>
        <p:xfrm>
          <a:off x="838200" y="4275614"/>
          <a:ext cx="10515600" cy="158496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9609431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768577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41365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Approx. Pricing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Business 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50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Entry-Level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~18%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Sensitive pricing, acceptable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328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Mid-Market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~15%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High confidence pricing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158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~25%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 panose="020B0502030000000004" pitchFamily="34" charset="0"/>
                          <a:ea typeface="Inter" panose="020B0502030000000004" pitchFamily="34" charset="0"/>
                        </a:rPr>
                        <a:t>Expected due to luxury variability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083650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814079A5-DD98-F58A-5D37-AF2D7BF4BA3D}"/>
              </a:ext>
            </a:extLst>
          </p:cNvPr>
          <p:cNvSpPr/>
          <p:nvPr/>
        </p:nvSpPr>
        <p:spPr>
          <a:xfrm>
            <a:off x="838200" y="5990908"/>
            <a:ext cx="10675431" cy="984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“Higher error in the premium segment is expected because luxury pricing is driven by subjective and non-linear factors such as view uniqueness, exclusivity, and buyer willingness, not just property features.”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934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D5758-EFED-522E-41A1-232BA1D8D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B70C07-5D11-79F6-7900-C917E53A9215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06. LLM-based Model Interpretation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91E782C-75C3-BBA6-67DE-92CCBB71D463}"/>
              </a:ext>
            </a:extLst>
          </p:cNvPr>
          <p:cNvSpPr/>
          <p:nvPr/>
        </p:nvSpPr>
        <p:spPr>
          <a:xfrm>
            <a:off x="630427" y="1059180"/>
            <a:ext cx="11127233" cy="5798820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Scenario-Based Price Interpretation Engine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How Scenarios Are Generated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44 city-specific market contexts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3 distinct pricing regimes (clusters)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Property-level feature logic</a:t>
            </a:r>
          </a:p>
          <a:p>
            <a:pPr lvl="2">
              <a:lnSpc>
                <a:spcPts val="2200"/>
              </a:lnSpc>
              <a:buSzPct val="100000"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Total Interpretation Paths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44 × 3 = 132 deterministic explanation scenarios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Each property follows exactly one path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What Controls the LLM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Pre-built, data-grounded narratives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City- and cluster-specific constraints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No free-form price generation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LLM Role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Answers questions only within the selected scenario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Cannot hallucinate prices or market facts</a:t>
            </a:r>
          </a:p>
          <a:p>
            <a:pPr marL="742950" lvl="1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Business Impact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Transparent, auditable price justification</a:t>
            </a:r>
          </a:p>
          <a:p>
            <a:pPr marL="1200150" lvl="2" indent="-28575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Consistent explanations across agents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B7C6052-396B-A169-CD64-61A65C782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260" y="1059180"/>
            <a:ext cx="4091940" cy="613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30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B27B2-3EAC-C177-FF29-09BB9B4C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793A70-D8D4-D3C6-EA1A-39C23DE01B84}"/>
              </a:ext>
            </a:extLst>
          </p:cNvPr>
          <p:cNvSpPr txBox="1"/>
          <p:nvPr/>
        </p:nvSpPr>
        <p:spPr>
          <a:xfrm>
            <a:off x="350708" y="289266"/>
            <a:ext cx="10955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DM Sans Semi Bold" panose="020B0604020202020204" charset="0"/>
                <a:ea typeface="+mn-ea"/>
                <a:cs typeface="+mn-cs"/>
              </a:rPr>
              <a:t>07. Deployment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DC1BE7D-B956-F077-8B93-72D6AC6E528B}"/>
              </a:ext>
            </a:extLst>
          </p:cNvPr>
          <p:cNvSpPr/>
          <p:nvPr/>
        </p:nvSpPr>
        <p:spPr>
          <a:xfrm>
            <a:off x="630427" y="1059180"/>
            <a:ext cx="11127233" cy="579882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t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Production-Ready Real Estate Pricing System</a:t>
            </a: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What’s Delivered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End-to-end pipeline handling new, unseen properties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Automatic market segmentation → price estimation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Consistent preprocessing and feature handling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Why It’s Ready for Use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Same preprocessing applied at training &amp; inference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Models and mappings exported and versioned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Deterministic output for identical inputs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User Interaction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Non-technical users interact via a simple UI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System returns price + market segment explanation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endParaRPr 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800100" lvl="1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Live Artifacts</a:t>
            </a: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GitHub (code &amp; models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):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hlinkClick r:id="rId2"/>
              </a:rPr>
              <a:t>https://github.com/george-yacope/Real-Estate-Full-AI-Project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  <a:p>
            <a:pPr marL="1257300" lvl="2" indent="-342900">
              <a:lnSpc>
                <a:spcPts val="2200"/>
              </a:lnSpc>
              <a:buSzPct val="100000"/>
              <a:buFont typeface="Courier New" panose="02070309020205020404" pitchFamily="49" charset="0"/>
              <a:buChar char="o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Streamlit App (user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demo): 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  <a:hlinkClick r:id="rId3"/>
              </a:rPr>
              <a:t>https://real-estate-full-ai-project.streamlit.app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Inter" panose="020B0502030000000004" pitchFamily="34" charset="0"/>
              <a:ea typeface="Inter" panose="020B0502030000000004" pitchFamily="34" charset="0"/>
              <a:cs typeface="+mn-cs"/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BD24089-06A6-C3A9-1B80-08ED6B83F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-1188720"/>
            <a:ext cx="4658360" cy="698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00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2743</TotalTime>
  <Words>1725</Words>
  <Application>Microsoft Office PowerPoint</Application>
  <PresentationFormat>Widescreen</PresentationFormat>
  <Paragraphs>314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DM Sans Semi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gorg</dc:creator>
  <cp:lastModifiedBy>gorg</cp:lastModifiedBy>
  <cp:revision>9</cp:revision>
  <dcterms:created xsi:type="dcterms:W3CDTF">2026-01-27T16:07:10Z</dcterms:created>
  <dcterms:modified xsi:type="dcterms:W3CDTF">2026-01-29T13:50:26Z</dcterms:modified>
</cp:coreProperties>
</file>